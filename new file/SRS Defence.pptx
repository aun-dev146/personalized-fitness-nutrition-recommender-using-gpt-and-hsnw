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61" r:id="rId4"/>
    <p:sldId id="262" r:id="rId5"/>
    <p:sldId id="264" r:id="rId6"/>
    <p:sldId id="258" r:id="rId7"/>
    <p:sldId id="260" r:id="rId8"/>
    <p:sldId id="259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3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 snapToGrid="0">
      <p:cViewPr>
        <p:scale>
          <a:sx n="66" d="100"/>
          <a:sy n="66" d="100"/>
        </p:scale>
        <p:origin x="732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24E0-C911-B5D5-65BD-17F7C0FBA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F57EB-D65F-1A52-0B69-48D7F57A1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438A3-2E64-EFB3-AC35-B1C4CBCB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B7CC0-01D5-D56C-E955-D54D1C52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EC07E-7A47-2851-E444-225F94AD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2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6A5A0-88A4-F470-A30E-A9EE3655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07FB1-C602-D861-66E1-8F943CA40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2EBE2-5991-D901-3514-7B0708E6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91B4A-24DC-681E-495C-BE2766AF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1480E-FEB8-DF3C-9EB5-787BCF20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2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2C3E-7A9E-E617-BA52-12E264C4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7FBD5-F9BB-E22D-EEBB-EDF3C71E8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EED84-217C-0ECD-F77C-44C0A01F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9D1C0-90F6-1B15-C502-0460D597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5A06-A2DF-8C40-6BCB-CBE065B9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8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3394-BD0A-7E3D-0F56-2DD87E5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3D09-4653-FA65-C953-9CB09EAC1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BD74F-5394-B020-EA3D-8283BAE3E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EB910-BC8A-121C-6356-6A6AD742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B8311-36AD-EE9F-EE65-10D7A060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55F39-7671-4AF0-08F2-ACF70C9C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CEB6-7D09-46B0-46E0-A21E2D95B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2411E-26E9-5EC7-44C7-BB723C46C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9D697-D2CE-3BF5-8CE9-DD9B6801B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8459F3-432C-9757-436D-1F264B93B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D3209-2616-E2DE-3E3A-45D628516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660F2-F7B3-0C6D-CED7-16426769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D2BCD-B9A1-79E1-33B9-6BAA401A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8E5611-C491-6DCE-AA76-A22BC71A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6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E786-01C1-7972-945A-771D02D6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72C5C-F76F-13A8-3BCF-CBDA67AA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13337-65C1-7D3D-A78B-3090DABB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02299-707D-0848-0DAE-5291B5C6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9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4436A-E33C-A74C-87BF-327BA6B2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39298-E055-8F8B-5769-0F57E7F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55CB8-3259-AAA0-C9CC-EF39AA79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4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A919-2628-55FE-1D19-BBBAC202A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FF31-96E9-B99B-F6F6-D56A39F3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9C21D-9366-1601-D48D-C4BDEEFBB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89F7B-1A8C-F0F4-51AE-5ECEB77E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E6358-5604-E320-7F87-3D15BD2D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09811-2FFB-B5EC-7581-A2D47E0F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7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EE8F-69A8-4EBA-F750-5E1E24F0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53D27-9E79-6E48-80FF-80733EBF0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A3A57-E963-8CD1-1C09-AE8EF23CB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E5B2F-1E43-F0AF-AE6E-2FA4485C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949F6-EE51-1C98-8217-AC44EED3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DE613-E7CF-55C8-7047-FA259205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6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DC71-02EA-EEEF-8FE2-C0640930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AC539-4C20-2C77-EB31-B2C924E8D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37E71-5255-31A4-A471-DBD33889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A4C26-2BEC-7305-CD02-F2DDAB3D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BAF5E-F0AC-8371-2302-8B70089B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6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A9B12B-2727-E959-AA59-FC40FF1A2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894E0-A534-9F69-939A-44A02C278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3DAF4-8F06-D1B0-0B0A-B4B19357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7F9DF-3AD8-38D2-BBAC-AC63AAAA1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95A66-ABFE-6946-9A77-6EE234E0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345D7C-33FB-8DE3-3890-57946A33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76E8-7AB4-0274-75D9-579DADA30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C2C6-0CE0-2AD2-EB3C-B09E792AB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0AFE3-BCA3-4E58-AD8F-CCAB08ACC55D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ADC3-51A7-C9AD-1F10-BDE7B8F88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FF066-F9C0-8041-6BC8-4DCBF99FA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8948F-5FDE-402E-88F7-DF68D4DB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0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2AB1-EA50-0F4A-0215-19B3AD0C9C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Proposal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103E5B-1335-B948-3A5B-274485F8A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12181"/>
          </a:xfrm>
        </p:spPr>
        <p:txBody>
          <a:bodyPr>
            <a:normAutofit/>
          </a:bodyPr>
          <a:lstStyle/>
          <a:p>
            <a:r>
              <a:rPr lang="en-US" sz="33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Team</a:t>
            </a:r>
          </a:p>
          <a:p>
            <a:r>
              <a:rPr lang="en-US" dirty="0"/>
              <a:t>Aun Ali 22F-3097</a:t>
            </a:r>
          </a:p>
          <a:p>
            <a:r>
              <a:rPr lang="en-US" dirty="0"/>
              <a:t>Faheem Nawaz 22F-3742</a:t>
            </a:r>
          </a:p>
          <a:p>
            <a:r>
              <a:rPr lang="en-US" dirty="0"/>
              <a:t>Qaim Ali 22F-3142</a:t>
            </a: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3C276887-310D-77A7-798D-A0DED0400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  <p:pic>
        <p:nvPicPr>
          <p:cNvPr id="5" name="Content Placeholder 4" descr="A blue and white logo&#10;&#10;AI-generated content may be incorrect.">
            <a:extLst>
              <a:ext uri="{FF2B5EF4-FFF2-40B4-BE49-F238E27FC236}">
                <a16:creationId xmlns:a16="http://schemas.microsoft.com/office/drawing/2014/main" id="{4D166F7E-EC3F-B95F-8630-A7E6F56EBA0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9" y="64682"/>
            <a:ext cx="1453101" cy="146278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3494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E9DB-C821-99E2-6B79-8D71C1A1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0FEF-7E56-D0BE-15A5-1DD429460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600" dirty="0"/>
              <a:t>Our project “</a:t>
            </a:r>
            <a:r>
              <a:rPr lang="en-US" sz="2600" b="1" dirty="0"/>
              <a:t>PAB MRI</a:t>
            </a:r>
            <a:r>
              <a:rPr lang="en-US" sz="2600" dirty="0"/>
              <a:t>” introduces an intelligent, semi-automated framework designed to assist radiologists in interpreting Magnetic Resonance Imaging (MRI) scans with greater accuracy and efficiency. The system addresses key challenges in radiology, including labor-intensive workflows, time constraints, and the risk of human error. By leveraging advanced medical imaging analysis and AI-driven report generation, the framework focuses on region-specific diseases and ensures clinical precision. Seamless integration with existing reporting systems allows the solution to deliver expert-level decision support and timely diagnostic insights, ultimately reducing delays and enhancing the quality of patient care.</a:t>
            </a: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FE9A210D-2322-0C54-2192-661186598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3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26D7-7904-BA8A-D301-9294959E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Outline (FYP Report v 1.0)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D0D26-6E12-A616-86FE-8990F916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Project Vision 	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baseline="0" dirty="0">
                <a:solidFill>
                  <a:srgbClr val="000000"/>
                </a:solidFill>
                <a:latin typeface="+mj-lt"/>
              </a:rPr>
              <a:t>High-Level Diagram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+mj-lt"/>
              </a:rPr>
              <a:t>	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High-Level Use Cases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Use Case Diagram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		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baseline="0" dirty="0">
                <a:solidFill>
                  <a:srgbClr val="000000"/>
                </a:solidFill>
                <a:latin typeface="+mj-lt"/>
              </a:rPr>
              <a:t>Expanded Use Cases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baseline="0" dirty="0">
                <a:solidFill>
                  <a:srgbClr val="000000"/>
                </a:solidFill>
                <a:latin typeface="+mj-lt"/>
              </a:rPr>
              <a:t>Expanded Use Case Diagram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Activity Diagrams</a:t>
            </a:r>
            <a:r>
              <a:rPr lang="en-US" b="0" i="0" u="none" baseline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	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Sequence Diagram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System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Sequence Diagrams</a:t>
            </a:r>
            <a:endParaRPr lang="en-US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Class Diagram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		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ER Diagram for Databases	</a:t>
            </a: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6BEFA2FC-7F7A-9582-7280-9BCE5D84D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1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996B-829E-742D-4B58-E3C8604F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E56A-2881-A3EC-8019-6ED283403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This project envisions transforming radiological diagnostics by providing intelligent, semi-automated support for MRI interpretation. Leveraging advanced deep learning techniques, the system analyzes medical images to detect region-specific abnormalities with clinical precision. It integrates seamlessly with existing reporting workflows, generating structured insights and prioritizing critical findings to assist radiologists in high-pressure environments. By reducing diagnostic delays and minimizing human error, the framework empowers healthcare professionals to make faster, more informed decisions</a:t>
            </a: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891B0AA2-BE97-13C6-AB99-56FF92FCE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8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21F0-DF82-C763-545C-F0DF74AAC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High-Level Diagram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B980E8-3314-DCEA-4F50-B957F9590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349919"/>
              </p:ext>
            </p:extLst>
          </p:nvPr>
        </p:nvGraphicFramePr>
        <p:xfrm>
          <a:off x="838200" y="1514170"/>
          <a:ext cx="10515600" cy="63989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540484675"/>
                    </a:ext>
                  </a:extLst>
                </a:gridCol>
                <a:gridCol w="1907458">
                  <a:extLst>
                    <a:ext uri="{9D8B030D-6E8A-4147-A177-3AD203B41FA5}">
                      <a16:colId xmlns:a16="http://schemas.microsoft.com/office/drawing/2014/main" val="728851881"/>
                    </a:ext>
                  </a:extLst>
                </a:gridCol>
                <a:gridCol w="1946787">
                  <a:extLst>
                    <a:ext uri="{9D8B030D-6E8A-4147-A177-3AD203B41FA5}">
                      <a16:colId xmlns:a16="http://schemas.microsoft.com/office/drawing/2014/main" val="4217599151"/>
                    </a:ext>
                  </a:extLst>
                </a:gridCol>
                <a:gridCol w="1700981">
                  <a:extLst>
                    <a:ext uri="{9D8B030D-6E8A-4147-A177-3AD203B41FA5}">
                      <a16:colId xmlns:a16="http://schemas.microsoft.com/office/drawing/2014/main" val="871363173"/>
                    </a:ext>
                  </a:extLst>
                </a:gridCol>
                <a:gridCol w="3360174">
                  <a:extLst>
                    <a:ext uri="{9D8B030D-6E8A-4147-A177-3AD203B41FA5}">
                      <a16:colId xmlns:a16="http://schemas.microsoft.com/office/drawing/2014/main" val="457471020"/>
                    </a:ext>
                  </a:extLst>
                </a:gridCol>
              </a:tblGrid>
              <a:tr h="33849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Use Case 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Use Case 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Actor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544317029"/>
                  </a:ext>
                </a:extLst>
              </a:tr>
              <a:tr h="90978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HUC-01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AI Report Generation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Primary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Radiologist, Model, Cloud Storage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Encompasses the entire automated pipeline from MRI input (upload, preprocessing, normalization, metadata extraction) to the use of VLM and LLM for generating a structured report draft.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285104640"/>
                  </a:ext>
                </a:extLst>
              </a:tr>
              <a:tr h="10322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HUC-02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Clinical Review and Finalization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Primary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Radiologist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Covers the required human oversight loop, allowing the Radiologist to review, edit, approve, and export the AI-generated report, ensuring diagnostic accountability and compliance.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901890990"/>
                  </a:ext>
                </a:extLst>
              </a:tr>
              <a:tr h="8874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HUC-03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Model Feedback and Improvement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Secondary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Radiologist, 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Manages the explicit mechanism for the Radiologist to provide qualitative and quantitative feedback on the AI's performance, which is essential for continuous model retraining and evaluation.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269872785"/>
                  </a:ext>
                </a:extLst>
              </a:tr>
              <a:tr h="10322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HUC-04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System and User Administration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Secondary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Admin, Cloud Storage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Manages system-level functionality, including secure user authentication, account management, auditing system activity logs, and monitoring overall system health and notifications.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495499576"/>
                  </a:ext>
                </a:extLst>
              </a:tr>
            </a:tbl>
          </a:graphicData>
        </a:graphic>
      </p:graphicFrame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63114A3D-1F5E-CEC5-678D-89F1D7F3F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8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DFD8-7FF9-9ACA-584E-51C8A582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High-Level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B5EC-6BE6-28C6-A360-6E5351F78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AI Report Generation - Radiologist, Model, Cloud Storage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Clinical Review and Finalization - Radiologist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 Feedback and Improvement - Radiologist,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System and User Administration - Admin, Cloud Storage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6EF42153-D006-100B-3AF8-CC25C9DC4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3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3BEE-822B-FFC6-BD27-56D2DAAE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 Case Diagram</a:t>
            </a:r>
          </a:p>
        </p:txBody>
      </p:sp>
      <p:pic>
        <p:nvPicPr>
          <p:cNvPr id="4" name="Content Placeholder 3" descr="Usecase">
            <a:extLst>
              <a:ext uri="{FF2B5EF4-FFF2-40B4-BE49-F238E27FC236}">
                <a16:creationId xmlns:a16="http://schemas.microsoft.com/office/drawing/2014/main" id="{B14162F3-8127-80E7-CA84-8AEB250F3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2026" y="1307690"/>
            <a:ext cx="7206348" cy="5397909"/>
          </a:xfrm>
          <a:prstGeom prst="rect">
            <a:avLst/>
          </a:prstGeom>
        </p:spPr>
      </p:pic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E4D2407D-FDB9-EE94-95B5-60D32D858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0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1C57-7B92-A539-7406-D9E44E9F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/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Expanded Use Cases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F5EDF-086A-64A4-826F-19E13695D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489"/>
            <a:ext cx="10515600" cy="4880385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Perform Login / Authentication - </a:t>
            </a:r>
            <a:r>
              <a:rPr lang="en-US" dirty="0"/>
              <a:t>Radiologist, Admin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Input MRI Scans – </a:t>
            </a:r>
            <a:r>
              <a:rPr lang="en-US" dirty="0"/>
              <a:t>Radiologist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Review / Edit Report and Scans – </a:t>
            </a:r>
            <a:r>
              <a:rPr lang="en-US" dirty="0"/>
              <a:t>Radiologist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Approve Report – </a:t>
            </a:r>
            <a:r>
              <a:rPr lang="en-US" dirty="0"/>
              <a:t>Radiologist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Export Report – </a:t>
            </a:r>
            <a:r>
              <a:rPr lang="en-US" dirty="0"/>
              <a:t>Radiologist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Provide Feedback – </a:t>
            </a:r>
            <a:r>
              <a:rPr lang="en-US" dirty="0"/>
              <a:t>Radiologist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Display MRI Scans - </a:t>
            </a:r>
            <a:r>
              <a:rPr lang="en-US" dirty="0"/>
              <a:t>Radiologist,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Generate Report – </a:t>
            </a:r>
            <a:r>
              <a:rPr lang="en-US" dirty="0"/>
              <a:t>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Manage Users - </a:t>
            </a:r>
            <a:r>
              <a:rPr lang="en-US" dirty="0"/>
              <a:t>Admin, Cloud Storage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Audit and Trace Logs - </a:t>
            </a:r>
            <a:r>
              <a:rPr lang="en-US" dirty="0"/>
              <a:t>Admin, Cloud Storage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Monitor Notifications and Logs – </a:t>
            </a:r>
            <a:r>
              <a:rPr lang="en-US" dirty="0"/>
              <a:t>Admin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Perform Preprocessing – </a:t>
            </a:r>
            <a:r>
              <a:rPr lang="en-US" dirty="0"/>
              <a:t>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Handle Errors and Recovery - </a:t>
            </a:r>
            <a:r>
              <a:rPr lang="en-US" dirty="0"/>
              <a:t>Model, Radiologist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Normalize Data – </a:t>
            </a:r>
            <a:r>
              <a:rPr lang="en-US" dirty="0"/>
              <a:t>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Highlight Bounding Boxes - </a:t>
            </a:r>
            <a:r>
              <a:rPr lang="en-US" dirty="0"/>
              <a:t>Model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690D8520-CC2B-614C-5F7F-C6B318D59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2925-C94B-3DA5-75B4-0749B407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Expanded Use Case Diagram # 1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1E4CDA-FE5E-4438-985F-51CADA483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376752"/>
              </p:ext>
            </p:extLst>
          </p:nvPr>
        </p:nvGraphicFramePr>
        <p:xfrm>
          <a:off x="838200" y="1690688"/>
          <a:ext cx="10515600" cy="48810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0040">
                  <a:extLst>
                    <a:ext uri="{9D8B030D-6E8A-4147-A177-3AD203B41FA5}">
                      <a16:colId xmlns:a16="http://schemas.microsoft.com/office/drawing/2014/main" val="3788939363"/>
                    </a:ext>
                  </a:extLst>
                </a:gridCol>
                <a:gridCol w="8925560">
                  <a:extLst>
                    <a:ext uri="{9D8B030D-6E8A-4147-A177-3AD203B41FA5}">
                      <a16:colId xmlns:a16="http://schemas.microsoft.com/office/drawing/2014/main" val="3467211843"/>
                    </a:ext>
                  </a:extLst>
                </a:gridCol>
              </a:tblGrid>
              <a:tr h="40227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369423231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Use Case ID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UC-02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127449218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Use Case Name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Input MRI Scans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2462146858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Type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Primary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2715641222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Actor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Radiologist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2342590734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Allows the Radiologist to upload raw MRI files (e.g., DICOM) into the system for AI processing.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839638293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Trigger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Radiologist selects the option to add a new scan.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560264255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Pre-Condition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Radiologist is logged in and authenticated (UC-01).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972396724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Post-Condition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MRI scan and metadata are successfully stored, and the AI processing pipeline begins.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635889898"/>
                  </a:ext>
                </a:extLst>
              </a:tr>
              <a:tr h="91486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Normal Flow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1. Radiologist selects scan files.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2. System validates file format.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3. System uploads the file (includes Perform Preprocessing).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4. System confirms successful upload.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595045516"/>
                  </a:ext>
                </a:extLst>
              </a:tr>
              <a:tr h="69270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Alternative Flow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A. Invalid Format: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1. System rejects file and displays error message.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2. User is prompted to upload a supported file format.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87891735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Special Requirement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Must be compatible with DICOM, JPEG, and PNG formats.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372141658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Frequency of Use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2744923405"/>
                  </a:ext>
                </a:extLst>
              </a:tr>
              <a:tr h="24838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Assumption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Network connection is stable for large file uploads.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640172728"/>
                  </a:ext>
                </a:extLst>
              </a:tr>
            </a:tbl>
          </a:graphicData>
        </a:graphic>
      </p:graphicFrame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7238C664-FEED-54EA-C31F-83DA699A6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9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D61D-78EA-7642-FF0A-D28517CC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Expanded Use Case Diagram #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71D366-93CA-525B-5F73-754BDE622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54355"/>
              </p:ext>
            </p:extLst>
          </p:nvPr>
        </p:nvGraphicFramePr>
        <p:xfrm>
          <a:off x="838200" y="1690688"/>
          <a:ext cx="10515600" cy="49977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552685090"/>
                    </a:ext>
                  </a:extLst>
                </a:gridCol>
                <a:gridCol w="8966200">
                  <a:extLst>
                    <a:ext uri="{9D8B030D-6E8A-4147-A177-3AD203B41FA5}">
                      <a16:colId xmlns:a16="http://schemas.microsoft.com/office/drawing/2014/main" val="1550696877"/>
                    </a:ext>
                  </a:extLst>
                </a:gridCol>
              </a:tblGrid>
              <a:tr h="4225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Field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567283422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Use Case ID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UC-03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70460913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Use Case Name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Review / Edit Report and Scans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650577902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Type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Primary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855106792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Actor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Radiologist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454950192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Allows the Radiologist to view the AI-generated report draft, edit text, and view visual grounding (annotations) on MRI images.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128694900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Trigger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Radiologist navigates to a report with “Pending Review” status.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696824256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Pre-Condition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Report draft must be generated (via UC-08).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350472073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Post-Condition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Report draft is updated and saved with the Radiologist’s edits.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3288086338"/>
                  </a:ext>
                </a:extLst>
              </a:tr>
              <a:tr h="90473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Normal Flow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1. Radiologist opens report draft.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2. System loads report and associated scans (UC-07).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3. Radiologist edits text/annotations.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4. Radiologist saves the updated draft.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801870205"/>
                  </a:ext>
                </a:extLst>
              </a:tr>
              <a:tr h="68503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Alternative Flow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A. Cancellation: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1. Radiologist exits without saving.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2. System maintains previously saved draft.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410982075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Special Requirement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Edits must be traceable (Audit Trail). Must be completed within 15 seconds.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398547780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Frequency of Use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1648783965"/>
                  </a:ext>
                </a:extLst>
              </a:tr>
              <a:tr h="24563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</a:rPr>
                        <a:t>Assumption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</a:rPr>
                        <a:t>Radiologist has necessary medical expertise to review the report.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795" marR="10795" marT="10795" marB="10795" anchor="ctr"/>
                </a:tc>
                <a:extLst>
                  <a:ext uri="{0D108BD9-81ED-4DB2-BD59-A6C34878D82A}">
                    <a16:rowId xmlns:a16="http://schemas.microsoft.com/office/drawing/2014/main" val="581115320"/>
                  </a:ext>
                </a:extLst>
              </a:tr>
            </a:tbl>
          </a:graphicData>
        </a:graphic>
      </p:graphicFrame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88F9DFFD-FFDF-D2EC-E3B2-80E6311C5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1E03-AF30-69B9-0118-59DAE8AF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Activity Diagrams</a:t>
            </a:r>
          </a:p>
        </p:txBody>
      </p:sp>
      <p:pic>
        <p:nvPicPr>
          <p:cNvPr id="4" name="Content Placeholder 3" descr="Activity Diagram – AI-Based Report Generation">
            <a:extLst>
              <a:ext uri="{FF2B5EF4-FFF2-40B4-BE49-F238E27FC236}">
                <a16:creationId xmlns:a16="http://schemas.microsoft.com/office/drawing/2014/main" id="{345F4C69-2315-11E0-478E-277288F8E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556" r="17274" b="6603"/>
          <a:stretch>
            <a:fillRect/>
          </a:stretch>
        </p:blipFill>
        <p:spPr>
          <a:xfrm>
            <a:off x="1013137" y="1467480"/>
            <a:ext cx="2567544" cy="5390519"/>
          </a:xfrm>
          <a:prstGeom prst="rect">
            <a:avLst/>
          </a:prstGeom>
        </p:spPr>
      </p:pic>
      <p:pic>
        <p:nvPicPr>
          <p:cNvPr id="5" name="Picture 4" descr="Activity Diagram – Data Preprocessing Pipeline">
            <a:extLst>
              <a:ext uri="{FF2B5EF4-FFF2-40B4-BE49-F238E27FC236}">
                <a16:creationId xmlns:a16="http://schemas.microsoft.com/office/drawing/2014/main" id="{90B7B100-69B1-C294-38EE-33C33CDBA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81" r="12452" b="16863"/>
          <a:stretch>
            <a:fillRect/>
          </a:stretch>
        </p:blipFill>
        <p:spPr>
          <a:xfrm>
            <a:off x="3580680" y="1467481"/>
            <a:ext cx="3691821" cy="5390519"/>
          </a:xfrm>
          <a:prstGeom prst="rect">
            <a:avLst/>
          </a:prstGeom>
        </p:spPr>
      </p:pic>
      <p:pic>
        <p:nvPicPr>
          <p:cNvPr id="6" name="Picture 5" descr="Activity Diagram – Radiologist Review &amp; Approval Workflow">
            <a:extLst>
              <a:ext uri="{FF2B5EF4-FFF2-40B4-BE49-F238E27FC236}">
                <a16:creationId xmlns:a16="http://schemas.microsoft.com/office/drawing/2014/main" id="{FDC39C28-5F47-5E56-65EB-4D6313D9BD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214" r="20972" b="26957"/>
          <a:stretch>
            <a:fillRect/>
          </a:stretch>
        </p:blipFill>
        <p:spPr>
          <a:xfrm>
            <a:off x="8042787" y="1467479"/>
            <a:ext cx="2954439" cy="5390519"/>
          </a:xfrm>
          <a:prstGeom prst="rect">
            <a:avLst/>
          </a:prstGeo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FBD2B3C6-65E7-8B8C-DA0C-78B7D6F873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9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6EEC-7651-69E7-3BBA-641E2E4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Class Diagram</a:t>
            </a:r>
          </a:p>
        </p:txBody>
      </p:sp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6812FC98-4162-C7C8-718E-02449D900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  <p:pic>
        <p:nvPicPr>
          <p:cNvPr id="8" name="Content Placeholder 7" descr="FYP UML-Page-3 (2)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70832" y="1825625"/>
            <a:ext cx="52503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E2EC-EB17-8E7E-03EC-F04CE6FE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Sequence Diagram</a:t>
            </a:r>
          </a:p>
        </p:txBody>
      </p:sp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C91C1273-00D6-B909-2B96-3962D7096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  <p:pic>
        <p:nvPicPr>
          <p:cNvPr id="7" name="Content Placeholder 6" descr="FYP UML-Page-1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71329" y="1831975"/>
            <a:ext cx="301752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65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04B2-A466-A8DA-6E9A-13861BCC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Sequence Diagrams</a:t>
            </a:r>
          </a:p>
        </p:txBody>
      </p:sp>
      <p:pic>
        <p:nvPicPr>
          <p:cNvPr id="5" name="Picture 4" descr="Radiologist - SSD">
            <a:extLst>
              <a:ext uri="{FF2B5EF4-FFF2-40B4-BE49-F238E27FC236}">
                <a16:creationId xmlns:a16="http://schemas.microsoft.com/office/drawing/2014/main" id="{D03A9D0F-1E71-2595-1E69-7FDD73AA02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90"/>
          <a:stretch>
            <a:fillRect/>
          </a:stretch>
        </p:blipFill>
        <p:spPr>
          <a:xfrm>
            <a:off x="7495106" y="1272461"/>
            <a:ext cx="4058740" cy="5520888"/>
          </a:xfrm>
          <a:prstGeom prst="rect">
            <a:avLst/>
          </a:prstGeom>
        </p:spPr>
      </p:pic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0299044A-55D9-E153-D960-7C6CF321B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  <p:pic>
        <p:nvPicPr>
          <p:cNvPr id="7" name="Content Placeholder 6" descr="FYP UML-Page-14"/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42409" y="1575367"/>
            <a:ext cx="4311368" cy="478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43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8448-0506-B604-A104-15969ACA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Entity Relationship Diagram (ERD)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Content Placeholder 3" descr="ER Diragram (1)">
            <a:extLst>
              <a:ext uri="{FF2B5EF4-FFF2-40B4-BE49-F238E27FC236}">
                <a16:creationId xmlns:a16="http://schemas.microsoft.com/office/drawing/2014/main" id="{2E4E7BC5-54D0-F378-FC71-9CD390D90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906"/>
          <a:stretch>
            <a:fillRect/>
          </a:stretch>
        </p:blipFill>
        <p:spPr>
          <a:xfrm>
            <a:off x="2448560" y="1574800"/>
            <a:ext cx="6797040" cy="5283199"/>
          </a:xfrm>
          <a:prstGeom prst="rect">
            <a:avLst/>
          </a:prstGeom>
        </p:spPr>
      </p:pic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45E2C376-BD93-C3B1-8DD8-02BB25F30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68" y="0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8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low of the Data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0932"/>
            <a:ext cx="10515600" cy="3217636"/>
          </a:xfrm>
        </p:spPr>
      </p:pic>
      <p:sp>
        <p:nvSpPr>
          <p:cNvPr id="5" name="TextBox 4"/>
          <p:cNvSpPr txBox="1"/>
          <p:nvPr/>
        </p:nvSpPr>
        <p:spPr>
          <a:xfrm>
            <a:off x="10347158" y="231006"/>
            <a:ext cx="1674796" cy="1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45E2C376-BD93-C3B1-8DD8-02BB25F30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68" y="335074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8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5810-E7D8-436C-B726-98F4A6584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You!</a:t>
            </a: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1526843C-5BBD-B3E8-D0FF-901DB48E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85" y="64682"/>
            <a:ext cx="1385664" cy="13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2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910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Wingdings</vt:lpstr>
      <vt:lpstr>Office Theme</vt:lpstr>
      <vt:lpstr>Proposal Defense</vt:lpstr>
      <vt:lpstr>Introduction</vt:lpstr>
      <vt:lpstr> Outline (FYP Report v 1.0)</vt:lpstr>
      <vt:lpstr>Project Vision</vt:lpstr>
      <vt:lpstr>High-Level Diagram</vt:lpstr>
      <vt:lpstr>High-Level Use Cases</vt:lpstr>
      <vt:lpstr>Use Case Diagram</vt:lpstr>
      <vt:lpstr>Expanded Use Cases </vt:lpstr>
      <vt:lpstr>Expanded Use Case Diagram # 1</vt:lpstr>
      <vt:lpstr>Expanded Use Case Diagram # 2</vt:lpstr>
      <vt:lpstr>Activity Diagrams</vt:lpstr>
      <vt:lpstr>Class Diagram</vt:lpstr>
      <vt:lpstr>Sequence Diagram</vt:lpstr>
      <vt:lpstr>System Sequence Diagrams</vt:lpstr>
      <vt:lpstr>Entity Relationship Diagram (ERD)</vt:lpstr>
      <vt:lpstr>Flow of the Data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Defense</dc:title>
  <dc:creator>Muhammad Qaim Ali</dc:creator>
  <cp:lastModifiedBy>pc</cp:lastModifiedBy>
  <cp:revision>10</cp:revision>
  <dcterms:created xsi:type="dcterms:W3CDTF">2025-10-29T12:51:16Z</dcterms:created>
  <dcterms:modified xsi:type="dcterms:W3CDTF">2025-12-10T20:10:00Z</dcterms:modified>
</cp:coreProperties>
</file>